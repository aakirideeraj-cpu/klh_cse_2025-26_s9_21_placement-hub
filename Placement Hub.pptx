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Impact" charset="1" panose="020B0806030902050204"/>
      <p:regular r:id="rId13"/>
    </p:embeddedFont>
    <p:embeddedFont>
      <p:font typeface="Poppins" charset="1" panose="00000500000000000000"/>
      <p:regular r:id="rId14"/>
    </p:embeddedFont>
    <p:embeddedFont>
      <p:font typeface="Anton"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366517">
            <a:off x="8172982" y="-1473762"/>
            <a:ext cx="12307770" cy="7200900"/>
          </a:xfrm>
          <a:custGeom>
            <a:avLst/>
            <a:gdLst/>
            <a:ahLst/>
            <a:cxnLst/>
            <a:rect r="r" b="b" t="t" l="l"/>
            <a:pathLst>
              <a:path h="7200900" w="1230777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493551">
            <a:off x="-3091661" y="3509943"/>
            <a:ext cx="15325477" cy="8242765"/>
          </a:xfrm>
          <a:custGeom>
            <a:avLst/>
            <a:gdLst/>
            <a:ahLst/>
            <a:cxnLst/>
            <a:rect r="r" b="b" t="t" l="l"/>
            <a:pathLst>
              <a:path h="8242765" w="15325477">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350042" y="349542"/>
            <a:ext cx="9587917" cy="9587917"/>
          </a:xfrm>
          <a:custGeom>
            <a:avLst/>
            <a:gdLst/>
            <a:ahLst/>
            <a:cxnLst/>
            <a:rect r="r" b="b" t="t" l="l"/>
            <a:pathLst>
              <a:path h="9587917" w="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0" y="-310821"/>
            <a:ext cx="2631470" cy="1956528"/>
          </a:xfrm>
          <a:custGeom>
            <a:avLst/>
            <a:gdLst/>
            <a:ahLst/>
            <a:cxnLst/>
            <a:rect r="r" b="b" t="t" l="l"/>
            <a:pathLst>
              <a:path h="1956528" w="2631470">
                <a:moveTo>
                  <a:pt x="0" y="0"/>
                </a:moveTo>
                <a:lnTo>
                  <a:pt x="2631470" y="0"/>
                </a:lnTo>
                <a:lnTo>
                  <a:pt x="2631470" y="1956528"/>
                </a:lnTo>
                <a:lnTo>
                  <a:pt x="0" y="1956528"/>
                </a:lnTo>
                <a:lnTo>
                  <a:pt x="0" y="0"/>
                </a:lnTo>
                <a:close/>
              </a:path>
            </a:pathLst>
          </a:custGeom>
          <a:blipFill>
            <a:blip r:embed="rId8"/>
            <a:stretch>
              <a:fillRect l="0" t="0" r="0" b="0"/>
            </a:stretch>
          </a:blipFill>
        </p:spPr>
      </p:sp>
      <p:sp>
        <p:nvSpPr>
          <p:cNvPr name="TextBox 6" id="6"/>
          <p:cNvSpPr txBox="true"/>
          <p:nvPr/>
        </p:nvSpPr>
        <p:spPr>
          <a:xfrm rot="0">
            <a:off x="1984372" y="3437173"/>
            <a:ext cx="14319257" cy="2841153"/>
          </a:xfrm>
          <a:prstGeom prst="rect">
            <a:avLst/>
          </a:prstGeom>
        </p:spPr>
        <p:txBody>
          <a:bodyPr anchor="t" rtlCol="false" tIns="0" lIns="0" bIns="0" rIns="0">
            <a:spAutoFit/>
          </a:bodyPr>
          <a:lstStyle/>
          <a:p>
            <a:pPr algn="ctr">
              <a:lnSpc>
                <a:spcPts val="20851"/>
              </a:lnSpc>
            </a:pPr>
            <a:r>
              <a:rPr lang="en-US" sz="14893">
                <a:solidFill>
                  <a:srgbClr val="FFFFFF"/>
                </a:solidFill>
                <a:latin typeface="Impact"/>
                <a:ea typeface="Impact"/>
                <a:cs typeface="Impact"/>
                <a:sym typeface="Impact"/>
              </a:rPr>
              <a:t>PLACEMENT HUB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3433588" y="5806884"/>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64621" y="-75312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318694" y="2846459"/>
            <a:ext cx="15650612" cy="3453221"/>
          </a:xfrm>
          <a:prstGeom prst="rect">
            <a:avLst/>
          </a:prstGeom>
        </p:spPr>
        <p:txBody>
          <a:bodyPr anchor="t" rtlCol="false" tIns="0" lIns="0" bIns="0" rIns="0">
            <a:spAutoFit/>
          </a:bodyPr>
          <a:lstStyle/>
          <a:p>
            <a:pPr algn="just">
              <a:lnSpc>
                <a:spcPts val="4554"/>
              </a:lnSpc>
            </a:pPr>
            <a:r>
              <a:rPr lang="en-US" sz="3253">
                <a:solidFill>
                  <a:srgbClr val="FFFFFF"/>
                </a:solidFill>
                <a:latin typeface="Poppins"/>
                <a:ea typeface="Poppins"/>
                <a:cs typeface="Poppins"/>
                <a:sym typeface="Poppins"/>
              </a:rPr>
              <a:t>Placement Hub connects students and recruiters through direct eligibility matching. Recruiters register drives with CGPA cutoff and required skills. Students enter their CGPA and skills to see which companies they qualify for. Recruiters can also search for students matching their drive's requirements , removing manual cross-checking between placement cells, students, and companies.</a:t>
            </a:r>
          </a:p>
        </p:txBody>
      </p:sp>
      <p:sp>
        <p:nvSpPr>
          <p:cNvPr name="TextBox 5" id="5"/>
          <p:cNvSpPr txBox="true"/>
          <p:nvPr/>
        </p:nvSpPr>
        <p:spPr>
          <a:xfrm rot="0">
            <a:off x="1028700" y="895350"/>
            <a:ext cx="6640906" cy="1610541"/>
          </a:xfrm>
          <a:prstGeom prst="rect">
            <a:avLst/>
          </a:prstGeom>
        </p:spPr>
        <p:txBody>
          <a:bodyPr anchor="t" rtlCol="false" tIns="0" lIns="0" bIns="0" rIns="0">
            <a:spAutoFit/>
          </a:bodyPr>
          <a:lstStyle/>
          <a:p>
            <a:pPr algn="just">
              <a:lnSpc>
                <a:spcPts val="11000"/>
              </a:lnSpc>
            </a:pPr>
            <a:r>
              <a:rPr lang="en-US" sz="9734">
                <a:solidFill>
                  <a:srgbClr val="FFFFFF"/>
                </a:solidFill>
                <a:latin typeface="Impact"/>
                <a:ea typeface="Impact"/>
                <a:cs typeface="Impact"/>
                <a:sym typeface="Impact"/>
              </a:rPr>
              <a:t>ABSTRACT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592224" y="-373200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17121" y="4900273"/>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32589" y="3920526"/>
            <a:ext cx="18400954" cy="4061298"/>
          </a:xfrm>
          <a:prstGeom prst="rect">
            <a:avLst/>
          </a:prstGeom>
        </p:spPr>
        <p:txBody>
          <a:bodyPr anchor="t" rtlCol="false" tIns="0" lIns="0" bIns="0" rIns="0">
            <a:spAutoFit/>
          </a:bodyPr>
          <a:lstStyle/>
          <a:p>
            <a:pPr algn="just" marL="708234" indent="-354117" lvl="1">
              <a:lnSpc>
                <a:spcPts val="4592"/>
              </a:lnSpc>
              <a:buFont typeface="Arial"/>
              <a:buChar char="•"/>
            </a:pPr>
            <a:r>
              <a:rPr lang="en-US" sz="3280">
                <a:solidFill>
                  <a:srgbClr val="FFFFFF"/>
                </a:solidFill>
                <a:latin typeface="Poppins"/>
                <a:ea typeface="Poppins"/>
                <a:cs typeface="Poppins"/>
                <a:sym typeface="Poppins"/>
              </a:rPr>
              <a:t>Placement cells manage student and company data manually</a:t>
            </a:r>
          </a:p>
          <a:p>
            <a:pPr algn="just" marL="708234" indent="-354117" lvl="1">
              <a:lnSpc>
                <a:spcPts val="4592"/>
              </a:lnSpc>
              <a:buFont typeface="Arial"/>
              <a:buChar char="•"/>
            </a:pPr>
            <a:r>
              <a:rPr lang="en-US" sz="3280">
                <a:solidFill>
                  <a:srgbClr val="FFFFFF"/>
                </a:solidFill>
                <a:latin typeface="Poppins"/>
                <a:ea typeface="Poppins"/>
                <a:cs typeface="Poppins"/>
                <a:sym typeface="Poppins"/>
              </a:rPr>
              <a:t>Students have no direct way to check which companies they're eligible for</a:t>
            </a:r>
          </a:p>
          <a:p>
            <a:pPr algn="just" marL="708234" indent="-354117" lvl="1">
              <a:lnSpc>
                <a:spcPts val="4592"/>
              </a:lnSpc>
              <a:buFont typeface="Arial"/>
              <a:buChar char="•"/>
            </a:pPr>
            <a:r>
              <a:rPr lang="en-US" sz="3280">
                <a:solidFill>
                  <a:srgbClr val="FFFFFF"/>
                </a:solidFill>
                <a:latin typeface="Poppins"/>
                <a:ea typeface="Poppins"/>
                <a:cs typeface="Poppins"/>
                <a:sym typeface="Poppins"/>
              </a:rPr>
              <a:t>Recruiters have no direct way to filter students matching their requirements</a:t>
            </a:r>
          </a:p>
          <a:p>
            <a:pPr algn="just" marL="708234" indent="-354117" lvl="1">
              <a:lnSpc>
                <a:spcPts val="4592"/>
              </a:lnSpc>
              <a:buFont typeface="Arial"/>
              <a:buChar char="•"/>
            </a:pPr>
            <a:r>
              <a:rPr lang="en-US" sz="3280">
                <a:solidFill>
                  <a:srgbClr val="FFFFFF"/>
                </a:solidFill>
                <a:latin typeface="Poppins"/>
                <a:ea typeface="Poppins"/>
                <a:cs typeface="Poppins"/>
                <a:sym typeface="Poppins"/>
              </a:rPr>
              <a:t>Manual CGPA/skill cross-checking is slow and error-prone</a:t>
            </a:r>
          </a:p>
          <a:p>
            <a:pPr algn="just" marL="708234" indent="-354117" lvl="1">
              <a:lnSpc>
                <a:spcPts val="4592"/>
              </a:lnSpc>
              <a:buFont typeface="Arial"/>
              <a:buChar char="•"/>
            </a:pPr>
            <a:r>
              <a:rPr lang="en-US" sz="3280">
                <a:solidFill>
                  <a:srgbClr val="FFFFFF"/>
                </a:solidFill>
                <a:latin typeface="Poppins"/>
                <a:ea typeface="Poppins"/>
                <a:cs typeface="Poppins"/>
                <a:sym typeface="Poppins"/>
              </a:rPr>
              <a:t>Causes delays and missed opportunities for eligible students</a:t>
            </a:r>
          </a:p>
          <a:p>
            <a:pPr algn="just" marL="708234" indent="-354117" lvl="1">
              <a:lnSpc>
                <a:spcPts val="4592"/>
              </a:lnSpc>
              <a:buFont typeface="Arial"/>
              <a:buChar char="•"/>
            </a:pPr>
            <a:r>
              <a:rPr lang="en-US" sz="3280">
                <a:solidFill>
                  <a:srgbClr val="FFFFFF"/>
                </a:solidFill>
                <a:latin typeface="Poppins"/>
                <a:ea typeface="Poppins"/>
                <a:cs typeface="Poppins"/>
                <a:sym typeface="Poppins"/>
              </a:rPr>
              <a:t>Placement Hub automates eligibility checks in both directions</a:t>
            </a:r>
          </a:p>
          <a:p>
            <a:pPr algn="just">
              <a:lnSpc>
                <a:spcPts val="4592"/>
              </a:lnSpc>
            </a:pPr>
          </a:p>
        </p:txBody>
      </p:sp>
      <p:sp>
        <p:nvSpPr>
          <p:cNvPr name="TextBox 5" id="5"/>
          <p:cNvSpPr txBox="true"/>
          <p:nvPr/>
        </p:nvSpPr>
        <p:spPr>
          <a:xfrm rot="0">
            <a:off x="1373171" y="1995868"/>
            <a:ext cx="9843818" cy="1610541"/>
          </a:xfrm>
          <a:prstGeom prst="rect">
            <a:avLst/>
          </a:prstGeom>
        </p:spPr>
        <p:txBody>
          <a:bodyPr anchor="t" rtlCol="false" tIns="0" lIns="0" bIns="0" rIns="0">
            <a:spAutoFit/>
          </a:bodyPr>
          <a:lstStyle/>
          <a:p>
            <a:pPr algn="r">
              <a:lnSpc>
                <a:spcPts val="11000"/>
              </a:lnSpc>
            </a:pPr>
            <a:r>
              <a:rPr lang="en-US" sz="9734">
                <a:solidFill>
                  <a:srgbClr val="FFFFFF"/>
                </a:solidFill>
                <a:latin typeface="Impact"/>
                <a:ea typeface="Impact"/>
                <a:cs typeface="Impact"/>
                <a:sym typeface="Impact"/>
              </a:rPr>
              <a:t>PROBLEM STATEMENT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43425" y="542925"/>
            <a:ext cx="9201150" cy="9201150"/>
          </a:xfrm>
          <a:custGeom>
            <a:avLst/>
            <a:gdLst/>
            <a:ahLst/>
            <a:cxnLst/>
            <a:rect r="r" b="b" t="t" l="l"/>
            <a:pathLst>
              <a:path h="9201150" w="9201150">
                <a:moveTo>
                  <a:pt x="0" y="0"/>
                </a:moveTo>
                <a:lnTo>
                  <a:pt x="9201150" y="0"/>
                </a:lnTo>
                <a:lnTo>
                  <a:pt x="9201150" y="9201150"/>
                </a:lnTo>
                <a:lnTo>
                  <a:pt x="0" y="920115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60067" y="4817640"/>
            <a:ext cx="16882614" cy="2973583"/>
          </a:xfrm>
          <a:prstGeom prst="rect">
            <a:avLst/>
          </a:prstGeom>
        </p:spPr>
        <p:txBody>
          <a:bodyPr anchor="t" rtlCol="false" tIns="0" lIns="0" bIns="0" rIns="0">
            <a:spAutoFit/>
          </a:bodyPr>
          <a:lstStyle/>
          <a:p>
            <a:pPr algn="l" marL="902617" indent="-451309" lvl="1">
              <a:lnSpc>
                <a:spcPts val="5853"/>
              </a:lnSpc>
              <a:buAutoNum type="arabicPeriod" startAt="1"/>
            </a:pPr>
            <a:r>
              <a:rPr lang="en-US" sz="4180">
                <a:solidFill>
                  <a:srgbClr val="FFFFFF"/>
                </a:solidFill>
                <a:latin typeface="Poppins"/>
                <a:ea typeface="Poppins"/>
                <a:cs typeface="Poppins"/>
                <a:sym typeface="Poppins"/>
              </a:rPr>
              <a:t>Company Registration </a:t>
            </a:r>
          </a:p>
          <a:p>
            <a:pPr algn="l" marL="902617" indent="-451309" lvl="1">
              <a:lnSpc>
                <a:spcPts val="5853"/>
              </a:lnSpc>
              <a:buAutoNum type="arabicPeriod" startAt="1"/>
            </a:pPr>
            <a:r>
              <a:rPr lang="en-US" sz="4180">
                <a:solidFill>
                  <a:srgbClr val="FFFFFF"/>
                </a:solidFill>
                <a:latin typeface="Poppins"/>
                <a:ea typeface="Poppins"/>
                <a:cs typeface="Poppins"/>
                <a:sym typeface="Poppins"/>
              </a:rPr>
              <a:t>Recruiter Search </a:t>
            </a:r>
          </a:p>
          <a:p>
            <a:pPr algn="l" marL="902617" indent="-451309" lvl="1">
              <a:lnSpc>
                <a:spcPts val="5853"/>
              </a:lnSpc>
              <a:buAutoNum type="arabicPeriod" startAt="1"/>
            </a:pPr>
            <a:r>
              <a:rPr lang="en-US" sz="4180">
                <a:solidFill>
                  <a:srgbClr val="FFFFFF"/>
                </a:solidFill>
                <a:latin typeface="Poppins"/>
                <a:ea typeface="Poppins"/>
                <a:cs typeface="Poppins"/>
                <a:sym typeface="Poppins"/>
              </a:rPr>
              <a:t>Student Search </a:t>
            </a:r>
          </a:p>
          <a:p>
            <a:pPr algn="ctr">
              <a:lnSpc>
                <a:spcPts val="5853"/>
              </a:lnSpc>
            </a:pPr>
          </a:p>
        </p:txBody>
      </p:sp>
      <p:sp>
        <p:nvSpPr>
          <p:cNvPr name="TextBox 4" id="4"/>
          <p:cNvSpPr txBox="true"/>
          <p:nvPr/>
        </p:nvSpPr>
        <p:spPr>
          <a:xfrm rot="0">
            <a:off x="3921492" y="601463"/>
            <a:ext cx="10559763" cy="3001191"/>
          </a:xfrm>
          <a:prstGeom prst="rect">
            <a:avLst/>
          </a:prstGeom>
        </p:spPr>
        <p:txBody>
          <a:bodyPr anchor="t" rtlCol="false" tIns="0" lIns="0" bIns="0" rIns="0">
            <a:spAutoFit/>
          </a:bodyPr>
          <a:lstStyle/>
          <a:p>
            <a:pPr algn="ctr">
              <a:lnSpc>
                <a:spcPts val="11000"/>
              </a:lnSpc>
            </a:pPr>
            <a:r>
              <a:rPr lang="en-US" sz="9734">
                <a:solidFill>
                  <a:srgbClr val="FFFFFF"/>
                </a:solidFill>
                <a:latin typeface="Impact"/>
                <a:ea typeface="Impact"/>
                <a:cs typeface="Impact"/>
                <a:sym typeface="Impact"/>
              </a:rPr>
              <a:t>PROPOSED FUNCTIONALITIES</a:t>
            </a:r>
          </a:p>
        </p:txBody>
      </p:sp>
      <p:sp>
        <p:nvSpPr>
          <p:cNvPr name="Freeform 5" id="5"/>
          <p:cNvSpPr/>
          <p:nvPr/>
        </p:nvSpPr>
        <p:spPr>
          <a:xfrm flipH="false" flipV="false" rot="0">
            <a:off x="14783217" y="-964573"/>
            <a:ext cx="4952166" cy="4114800"/>
          </a:xfrm>
          <a:custGeom>
            <a:avLst/>
            <a:gdLst/>
            <a:ahLst/>
            <a:cxnLst/>
            <a:rect r="r" b="b" t="t" l="l"/>
            <a:pathLst>
              <a:path h="4114800" w="4952166">
                <a:moveTo>
                  <a:pt x="0" y="0"/>
                </a:moveTo>
                <a:lnTo>
                  <a:pt x="4952166" y="0"/>
                </a:lnTo>
                <a:lnTo>
                  <a:pt x="495216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31070" y="657225"/>
            <a:ext cx="4609246" cy="4114800"/>
          </a:xfrm>
          <a:custGeom>
            <a:avLst/>
            <a:gdLst/>
            <a:ahLst/>
            <a:cxnLst/>
            <a:rect r="r" b="b" t="t" l="l"/>
            <a:pathLst>
              <a:path h="4114800" w="4609246">
                <a:moveTo>
                  <a:pt x="0" y="0"/>
                </a:moveTo>
                <a:lnTo>
                  <a:pt x="4609247" y="0"/>
                </a:lnTo>
                <a:lnTo>
                  <a:pt x="460924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543425" y="542925"/>
            <a:ext cx="9201150" cy="9201150"/>
          </a:xfrm>
          <a:custGeom>
            <a:avLst/>
            <a:gdLst/>
            <a:ahLst/>
            <a:cxnLst/>
            <a:rect r="r" b="b" t="t" l="l"/>
            <a:pathLst>
              <a:path h="9201150" w="9201150">
                <a:moveTo>
                  <a:pt x="0" y="0"/>
                </a:moveTo>
                <a:lnTo>
                  <a:pt x="9201150" y="0"/>
                </a:lnTo>
                <a:lnTo>
                  <a:pt x="9201150" y="9201150"/>
                </a:lnTo>
                <a:lnTo>
                  <a:pt x="0" y="9201150"/>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921492" y="4140004"/>
            <a:ext cx="10445016" cy="2744177"/>
          </a:xfrm>
          <a:prstGeom prst="rect">
            <a:avLst/>
          </a:prstGeom>
        </p:spPr>
        <p:txBody>
          <a:bodyPr anchor="t" rtlCol="false" tIns="0" lIns="0" bIns="0" rIns="0">
            <a:spAutoFit/>
          </a:bodyPr>
          <a:lstStyle/>
          <a:p>
            <a:pPr algn="ctr" marL="558436" indent="-279218" lvl="1">
              <a:lnSpc>
                <a:spcPts val="3621"/>
              </a:lnSpc>
              <a:buFont typeface="Arial"/>
              <a:buChar char="•"/>
            </a:pPr>
            <a:r>
              <a:rPr lang="en-US" sz="2586">
                <a:solidFill>
                  <a:srgbClr val="FFFFFF"/>
                </a:solidFill>
                <a:latin typeface="Poppins"/>
                <a:ea typeface="Poppins"/>
                <a:cs typeface="Poppins"/>
                <a:sym typeface="Poppins"/>
              </a:rPr>
              <a:t>Programming Language: Java</a:t>
            </a:r>
          </a:p>
          <a:p>
            <a:pPr algn="ctr" marL="558436" indent="-279218" lvl="1">
              <a:lnSpc>
                <a:spcPts val="3621"/>
              </a:lnSpc>
              <a:buFont typeface="Arial"/>
              <a:buChar char="•"/>
            </a:pPr>
            <a:r>
              <a:rPr lang="en-US" sz="2586">
                <a:solidFill>
                  <a:srgbClr val="FFFFFF"/>
                </a:solidFill>
                <a:latin typeface="Poppins"/>
                <a:ea typeface="Poppins"/>
                <a:cs typeface="Poppins"/>
                <a:sym typeface="Poppins"/>
              </a:rPr>
              <a:t>Frontend: JavaFX (3 screens)</a:t>
            </a:r>
          </a:p>
          <a:p>
            <a:pPr algn="ctr" marL="558436" indent="-279218" lvl="1">
              <a:lnSpc>
                <a:spcPts val="3621"/>
              </a:lnSpc>
              <a:buFont typeface="Arial"/>
              <a:buChar char="•"/>
            </a:pPr>
            <a:r>
              <a:rPr lang="en-US" sz="2586">
                <a:solidFill>
                  <a:srgbClr val="FFFFFF"/>
                </a:solidFill>
                <a:latin typeface="Poppins"/>
                <a:ea typeface="Poppins"/>
                <a:cs typeface="Poppins"/>
                <a:sym typeface="Poppins"/>
              </a:rPr>
              <a:t>Backend: MySQL</a:t>
            </a:r>
          </a:p>
          <a:p>
            <a:pPr algn="ctr" marL="558436" indent="-279218" lvl="1">
              <a:lnSpc>
                <a:spcPts val="3621"/>
              </a:lnSpc>
              <a:buFont typeface="Arial"/>
              <a:buChar char="•"/>
            </a:pPr>
            <a:r>
              <a:rPr lang="en-US" sz="2586">
                <a:solidFill>
                  <a:srgbClr val="FFFFFF"/>
                </a:solidFill>
                <a:latin typeface="Poppins"/>
                <a:ea typeface="Poppins"/>
                <a:cs typeface="Poppins"/>
                <a:sym typeface="Poppins"/>
              </a:rPr>
              <a:t>Database Connectivity: JDBC</a:t>
            </a:r>
          </a:p>
          <a:p>
            <a:pPr algn="ctr" marL="558436" indent="-279218" lvl="1">
              <a:lnSpc>
                <a:spcPts val="3621"/>
              </a:lnSpc>
              <a:buFont typeface="Arial"/>
              <a:buChar char="•"/>
            </a:pPr>
            <a:r>
              <a:rPr lang="en-US" sz="2586">
                <a:solidFill>
                  <a:srgbClr val="FFFFFF"/>
                </a:solidFill>
                <a:latin typeface="Poppins"/>
                <a:ea typeface="Poppins"/>
                <a:cs typeface="Poppins"/>
                <a:sym typeface="Poppins"/>
              </a:rPr>
              <a:t>UI Design: Scene Builder (optional)</a:t>
            </a:r>
          </a:p>
          <a:p>
            <a:pPr algn="ctr">
              <a:lnSpc>
                <a:spcPts val="3621"/>
              </a:lnSpc>
            </a:pPr>
          </a:p>
        </p:txBody>
      </p:sp>
      <p:sp>
        <p:nvSpPr>
          <p:cNvPr name="TextBox 5" id="5"/>
          <p:cNvSpPr txBox="true"/>
          <p:nvPr/>
        </p:nvSpPr>
        <p:spPr>
          <a:xfrm rot="0">
            <a:off x="6103687" y="1280355"/>
            <a:ext cx="6080627" cy="1820979"/>
          </a:xfrm>
          <a:prstGeom prst="rect">
            <a:avLst/>
          </a:prstGeom>
        </p:spPr>
        <p:txBody>
          <a:bodyPr anchor="t" rtlCol="false" tIns="0" lIns="0" bIns="0" rIns="0">
            <a:spAutoFit/>
          </a:bodyPr>
          <a:lstStyle/>
          <a:p>
            <a:pPr algn="ctr">
              <a:lnSpc>
                <a:spcPts val="6692"/>
              </a:lnSpc>
            </a:pPr>
            <a:r>
              <a:rPr lang="en-US" sz="5922">
                <a:solidFill>
                  <a:srgbClr val="FFFFFF"/>
                </a:solidFill>
                <a:latin typeface="Impact"/>
                <a:ea typeface="Impact"/>
                <a:cs typeface="Impact"/>
                <a:sym typeface="Impact"/>
              </a:rPr>
              <a:t> TOOLS AND TECHNOLOGIES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256087" y="1432755"/>
            <a:ext cx="6080627" cy="974915"/>
          </a:xfrm>
          <a:prstGeom prst="rect">
            <a:avLst/>
          </a:prstGeom>
        </p:spPr>
        <p:txBody>
          <a:bodyPr anchor="t" rtlCol="false" tIns="0" lIns="0" bIns="0" rIns="0">
            <a:spAutoFit/>
          </a:bodyPr>
          <a:lstStyle/>
          <a:p>
            <a:pPr algn="ctr">
              <a:lnSpc>
                <a:spcPts val="6692"/>
              </a:lnSpc>
            </a:pPr>
            <a:r>
              <a:rPr lang="en-US" sz="5922">
                <a:solidFill>
                  <a:srgbClr val="FFFFFF"/>
                </a:solidFill>
                <a:latin typeface="Impact"/>
                <a:ea typeface="Impact"/>
                <a:cs typeface="Impact"/>
                <a:sym typeface="Impact"/>
              </a:rPr>
              <a:t> EXPECTED OUTCOME</a:t>
            </a:r>
          </a:p>
        </p:txBody>
      </p:sp>
      <p:sp>
        <p:nvSpPr>
          <p:cNvPr name="TextBox 3" id="3"/>
          <p:cNvSpPr txBox="true"/>
          <p:nvPr/>
        </p:nvSpPr>
        <p:spPr>
          <a:xfrm rot="0">
            <a:off x="4073892" y="3614140"/>
            <a:ext cx="10445016" cy="3658577"/>
          </a:xfrm>
          <a:prstGeom prst="rect">
            <a:avLst/>
          </a:prstGeom>
        </p:spPr>
        <p:txBody>
          <a:bodyPr anchor="t" rtlCol="false" tIns="0" lIns="0" bIns="0" rIns="0">
            <a:spAutoFit/>
          </a:bodyPr>
          <a:lstStyle/>
          <a:p>
            <a:pPr algn="ctr" marL="558436" indent="-279218" lvl="1">
              <a:lnSpc>
                <a:spcPts val="3621"/>
              </a:lnSpc>
              <a:buFont typeface="Arial"/>
              <a:buChar char="•"/>
            </a:pPr>
            <a:r>
              <a:rPr lang="en-US" sz="2586">
                <a:solidFill>
                  <a:srgbClr val="FFFFFF"/>
                </a:solidFill>
                <a:latin typeface="Poppins"/>
                <a:ea typeface="Poppins"/>
                <a:cs typeface="Poppins"/>
                <a:sym typeface="Poppins"/>
              </a:rPr>
              <a:t>Recruiters can register new drives with eligibility criteria</a:t>
            </a:r>
          </a:p>
          <a:p>
            <a:pPr algn="ctr" marL="558436" indent="-279218" lvl="1">
              <a:lnSpc>
                <a:spcPts val="3621"/>
              </a:lnSpc>
              <a:buFont typeface="Arial"/>
              <a:buChar char="•"/>
            </a:pPr>
            <a:r>
              <a:rPr lang="en-US" sz="2586">
                <a:solidFill>
                  <a:srgbClr val="FFFFFF"/>
                </a:solidFill>
                <a:latin typeface="Poppins"/>
                <a:ea typeface="Poppins"/>
                <a:cs typeface="Poppins"/>
                <a:sym typeface="Poppins"/>
              </a:rPr>
              <a:t>S</a:t>
            </a:r>
            <a:r>
              <a:rPr lang="en-US" sz="2586">
                <a:solidFill>
                  <a:srgbClr val="FFFFFF"/>
                </a:solidFill>
                <a:latin typeface="Poppins"/>
                <a:ea typeface="Poppins"/>
                <a:cs typeface="Poppins"/>
                <a:sym typeface="Poppins"/>
              </a:rPr>
              <a:t>tudents instantly see companies they're eligible for</a:t>
            </a:r>
          </a:p>
          <a:p>
            <a:pPr algn="ctr" marL="558436" indent="-279218" lvl="1">
              <a:lnSpc>
                <a:spcPts val="3621"/>
              </a:lnSpc>
              <a:buFont typeface="Arial"/>
              <a:buChar char="•"/>
            </a:pPr>
            <a:r>
              <a:rPr lang="en-US" sz="2586">
                <a:solidFill>
                  <a:srgbClr val="FFFFFF"/>
                </a:solidFill>
                <a:latin typeface="Poppins"/>
                <a:ea typeface="Poppins"/>
                <a:cs typeface="Poppins"/>
                <a:sym typeface="Poppins"/>
              </a:rPr>
              <a:t>Recruiters instantly see students matching their requirements</a:t>
            </a:r>
          </a:p>
          <a:p>
            <a:pPr algn="ctr" marL="558436" indent="-279218" lvl="1">
              <a:lnSpc>
                <a:spcPts val="3621"/>
              </a:lnSpc>
              <a:buFont typeface="Arial"/>
              <a:buChar char="•"/>
            </a:pPr>
            <a:r>
              <a:rPr lang="en-US" sz="2586">
                <a:solidFill>
                  <a:srgbClr val="FFFFFF"/>
                </a:solidFill>
                <a:latin typeface="Poppins"/>
                <a:ea typeface="Poppins"/>
                <a:cs typeface="Poppins"/>
                <a:sym typeface="Poppins"/>
              </a:rPr>
              <a:t>Reduces manual work and delays</a:t>
            </a:r>
          </a:p>
          <a:p>
            <a:pPr algn="ctr" marL="558436" indent="-279218" lvl="1">
              <a:lnSpc>
                <a:spcPts val="3621"/>
              </a:lnSpc>
              <a:buFont typeface="Arial"/>
              <a:buChar char="•"/>
            </a:pPr>
            <a:r>
              <a:rPr lang="en-US" sz="2586">
                <a:solidFill>
                  <a:srgbClr val="FFFFFF"/>
                </a:solidFill>
                <a:latin typeface="Poppins"/>
                <a:ea typeface="Poppins"/>
                <a:cs typeface="Poppins"/>
                <a:sym typeface="Poppins"/>
              </a:rPr>
              <a:t>Demonstrates real use of HashMap, BST, HashSet, and Priority Queue</a:t>
            </a:r>
          </a:p>
          <a:p>
            <a:pPr algn="ctr">
              <a:lnSpc>
                <a:spcPts val="3621"/>
              </a:lnSpc>
            </a:pPr>
          </a:p>
        </p:txBody>
      </p:sp>
      <p:sp>
        <p:nvSpPr>
          <p:cNvPr name="Freeform 4" id="4"/>
          <p:cNvSpPr/>
          <p:nvPr/>
        </p:nvSpPr>
        <p:spPr>
          <a:xfrm flipH="false" flipV="false" rot="0">
            <a:off x="-1478670" y="809625"/>
            <a:ext cx="4609246" cy="4114800"/>
          </a:xfrm>
          <a:custGeom>
            <a:avLst/>
            <a:gdLst/>
            <a:ahLst/>
            <a:cxnLst/>
            <a:rect r="r" b="b" t="t" l="l"/>
            <a:pathLst>
              <a:path h="4114800" w="4609246">
                <a:moveTo>
                  <a:pt x="0" y="0"/>
                </a:moveTo>
                <a:lnTo>
                  <a:pt x="4609247" y="0"/>
                </a:lnTo>
                <a:lnTo>
                  <a:pt x="460924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875015" y="542925"/>
            <a:ext cx="9201150" cy="9201150"/>
          </a:xfrm>
          <a:custGeom>
            <a:avLst/>
            <a:gdLst/>
            <a:ahLst/>
            <a:cxnLst/>
            <a:rect r="r" b="b" t="t" l="l"/>
            <a:pathLst>
              <a:path h="9201150" w="9201150">
                <a:moveTo>
                  <a:pt x="0" y="0"/>
                </a:moveTo>
                <a:lnTo>
                  <a:pt x="9201150" y="0"/>
                </a:lnTo>
                <a:lnTo>
                  <a:pt x="9201150" y="9201150"/>
                </a:lnTo>
                <a:lnTo>
                  <a:pt x="0" y="920115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578375">
            <a:off x="8323700" y="-4291982"/>
            <a:ext cx="15959856" cy="8583964"/>
          </a:xfrm>
          <a:custGeom>
            <a:avLst/>
            <a:gdLst/>
            <a:ahLst/>
            <a:cxnLst/>
            <a:rect r="r" b="b" t="t" l="l"/>
            <a:pathLst>
              <a:path h="8583964" w="15959856">
                <a:moveTo>
                  <a:pt x="0" y="0"/>
                </a:moveTo>
                <a:lnTo>
                  <a:pt x="15959857" y="0"/>
                </a:lnTo>
                <a:lnTo>
                  <a:pt x="15959857" y="8583964"/>
                </a:lnTo>
                <a:lnTo>
                  <a:pt x="0" y="85839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984372" y="3726507"/>
            <a:ext cx="14319257" cy="2548236"/>
          </a:xfrm>
          <a:prstGeom prst="rect">
            <a:avLst/>
          </a:prstGeom>
        </p:spPr>
        <p:txBody>
          <a:bodyPr anchor="t" rtlCol="false" tIns="0" lIns="0" bIns="0" rIns="0">
            <a:spAutoFit/>
          </a:bodyPr>
          <a:lstStyle/>
          <a:p>
            <a:pPr algn="ctr">
              <a:lnSpc>
                <a:spcPts val="20851"/>
              </a:lnSpc>
            </a:pPr>
            <a:r>
              <a:rPr lang="en-US" sz="14893">
                <a:solidFill>
                  <a:srgbClr val="FFFFFF"/>
                </a:solidFill>
                <a:latin typeface="Anton"/>
                <a:ea typeface="Anton"/>
                <a:cs typeface="Anton"/>
                <a:sym typeface="Anton"/>
              </a:rPr>
              <a:t>THANK YOU</a:t>
            </a:r>
          </a:p>
        </p:txBody>
      </p:sp>
      <p:sp>
        <p:nvSpPr>
          <p:cNvPr name="Freeform 5" id="5"/>
          <p:cNvSpPr/>
          <p:nvPr/>
        </p:nvSpPr>
        <p:spPr>
          <a:xfrm flipH="false" flipV="false" rot="1366517">
            <a:off x="-1768901" y="4979430"/>
            <a:ext cx="12307770" cy="7200900"/>
          </a:xfrm>
          <a:custGeom>
            <a:avLst/>
            <a:gdLst/>
            <a:ahLst/>
            <a:cxnLst/>
            <a:rect r="r" b="b" t="t" l="l"/>
            <a:pathLst>
              <a:path h="7200900" w="12307770">
                <a:moveTo>
                  <a:pt x="0" y="0"/>
                </a:moveTo>
                <a:lnTo>
                  <a:pt x="12307770" y="0"/>
                </a:lnTo>
                <a:lnTo>
                  <a:pt x="12307770" y="7200900"/>
                </a:lnTo>
                <a:lnTo>
                  <a:pt x="0" y="72009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DAHQ7IH90eY</dc:identifier>
  <dcterms:modified xsi:type="dcterms:W3CDTF">2011-08-01T06:04:30Z</dcterms:modified>
  <cp:revision>1</cp:revision>
  <dc:title>Placement Hub</dc:title>
</cp:coreProperties>
</file>